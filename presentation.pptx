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Central</c:v>
                  </c:pt>
                  <c:pt idx="1">
                    <c:v>East</c:v>
                  </c:pt>
                  <c:pt idx="2">
                    <c:v>North</c:v>
                  </c:pt>
                  <c:pt idx="3">
                    <c:v>South</c:v>
                  </c:pt>
                  <c:pt idx="4">
                    <c:v>West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4.19</c:v>
                </c:pt>
                <c:pt idx="1">
                  <c:v>4.58</c:v>
                </c:pt>
                <c:pt idx="2">
                  <c:v>3.63</c:v>
                </c:pt>
                <c:pt idx="3">
                  <c:v>3.9</c:v>
                </c:pt>
                <c:pt idx="4">
                  <c:v>4.45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Furniture</c:v>
                  </c:pt>
                  <c:pt idx="1">
                    <c:v>Office Supplies</c:v>
                  </c:pt>
                  <c:pt idx="2">
                    <c:v>Technology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</c:v>
                </c:pt>
                <c:pt idx="1">
                  <c:v>17.2</c:v>
                </c:pt>
                <c:pt idx="2">
                  <c:v>17.4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per-order margin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Furniture
(n = 2,201)</c:v>
                  </c:pt>
                  <c:pt idx="1">
                    <c:v>All Other Categories
(n = 7,993)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4.27</c:v>
                </c:pt>
                <c:pt idx="1">
                  <c:v>14.41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Chairs
(17% disc.)</c:v>
                  </c:pt>
                  <c:pt idx="1">
                    <c:v>Furnishings
(14% disc.)</c:v>
                  </c:pt>
                  <c:pt idx="2">
                    <c:v>Bookcases
(22% disc.)</c:v>
                  </c:pt>
                  <c:pt idx="3">
                    <c:v>Tables
(26% disc.)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27224</c:v>
                </c:pt>
                <c:pt idx="1">
                  <c:v>13892</c:v>
                </c:pt>
                <c:pt idx="2">
                  <c:v>-3632</c:v>
                </c:pt>
                <c:pt idx="3">
                  <c:v>-17753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931920"/>
            <a:ext cx="4937760" cy="493776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754880"/>
            <a:ext cx="3291840" cy="3291840"/>
          </a:xfrm>
          <a:prstGeom prst="ellipse">
            <a:avLst/>
          </a:prstGeom>
          <a:solidFill>
            <a:srgbClr val="232C6B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5486400"/>
            <a:ext cx="1828800" cy="1828800"/>
          </a:xfrm>
          <a:prstGeom prst="ellipse">
            <a:avLst/>
          </a:prstGeom>
          <a:solidFill>
            <a:srgbClr val="2A348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 &amp;  STATISTICAL VALIDATION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Decisions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deep-dive into sales performance across three internship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— cleaning, exploration, and profitability analysis.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806440"/>
            <a:ext cx="128016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Aakrti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Internship  |  ApexPlanet Software Pvt. Ltd.  |  Task 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Datasets, One Continuous 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internship task built on the last — from a raw, messy file to a tested, boardroom-ready conclusion.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42032" cy="41605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1,005 raw sales records inspected; missing values, duplicates and bad dates fixed.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5349240"/>
            <a:ext cx="20848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55046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 records retained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817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346704" y="1965960"/>
            <a:ext cx="2542032" cy="41605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75304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2834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75304" y="324612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575304" y="365760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cleaning + Excel BI dashboard built to answer 7 core business questions.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75304" y="5349240"/>
            <a:ext cx="20848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75304" y="55046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orders analyzed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907024" y="3817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44768" y="1965960"/>
            <a:ext cx="2542032" cy="41605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73368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73368" y="2834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73368" y="324612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365760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3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Tableau used to define KPIs and study sales vs. profit by segment.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73368" y="5349240"/>
            <a:ext cx="20848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73368" y="55046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5,111 orders, 4 yrs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705088" y="3817620"/>
            <a:ext cx="237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942832" y="1965960"/>
            <a:ext cx="2542032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71432" y="22402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171432" y="2834640"/>
            <a:ext cx="20848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171432" y="324612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171432" y="365760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hypothesis is formed and tested statistically, not assumed.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171432" y="5349240"/>
            <a:ext cx="2084832" cy="0"/>
          </a:xfrm>
          <a:prstGeom prst="line">
            <a:avLst/>
          </a:prstGeom>
          <a:noFill/>
          <a:ln w="12700">
            <a:solidFill>
              <a:srgbClr val="3A43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71432" y="550468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 result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DATA CLEANING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Reliable Base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Sales_Dataset_1005.csv → cleaned with Python &amp; Pandas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IDENTIFIED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042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values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87121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customer names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43814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 records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05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(invalid) sales values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90872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720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date formats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48640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issue was resolved with a specific rule — median imputation for age, “Unknown Customer” for blank names, de-duplication, removal of invalid rows, and a single standardized date format.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1965960"/>
            <a:ext cx="4846320" cy="1554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6600" y="212140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995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926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1,005 records retained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(99% integrity)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3703320"/>
            <a:ext cx="2308860" cy="14173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04020" y="3703320"/>
            <a:ext cx="2308860" cy="14173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3262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9532620" y="443484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sales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remain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66560" y="5257800"/>
            <a:ext cx="4846320" cy="118872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40880" y="525780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Cleaned_Sales_Dataset.csv — analysis-ready for Tasks 2 &amp; 3.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· EDA &amp; BUSINESS INTELLIGENCE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orders cleaned in SQL, visualized in an interactive Excel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42032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2996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₹20.73M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974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42032" cy="12344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93008" y="202996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6974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542032" cy="12344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36208" y="202996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4,534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26974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920240"/>
            <a:ext cx="2542032" cy="12344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9408" y="2029968"/>
            <a:ext cx="2176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₹3.82M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697480"/>
            <a:ext cx="2176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 (₹ MILLIONS)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749040"/>
          <a:ext cx="57607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537960" y="3429000"/>
            <a:ext cx="5074920" cy="306324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12280" y="3611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BUSINESS QUESTIONS ANSWERED VIA SQL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977640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59168" y="4023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revenue-generating product categories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4462272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59168" y="45079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6812280" y="4946904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59168" y="4992624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sales channels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812280" y="5431536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059168" y="5477256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vs. revenue relationship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812280" y="5916168"/>
            <a:ext cx="228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059168" y="5961888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performance gaps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East leads regional revenue; North trails ~21% behind — a gap worth investigating in Task 3.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DEEP-DIVE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Volume Isn't Profit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dataset · cleaned in Python · visualized in Tableau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42032" cy="10972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0116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$2.33M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606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2542032" cy="10972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93008" y="20116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$292K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606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0" y="1920240"/>
            <a:ext cx="2542032" cy="109728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36208" y="20116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5,111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2606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78240" y="1920240"/>
            <a:ext cx="2542032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9408" y="2011680"/>
            <a:ext cx="2176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12.56%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260604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</a:t>
            </a:r>
            <a:endParaRPr lang="en-US" sz="11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457200" y="3566160"/>
          <a:ext cx="576072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537960" y="3246120"/>
            <a:ext cx="5074920" cy="320040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812280" y="34564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FLAG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12280" y="3794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generates $754.7K in sales — almost as much as Technology ($839.9K) — but returns only $19.7K in profit.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812280" y="47091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2.6% margin, versus 17%+ for the other two categories — a gap too large to be a coincidence.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812280" y="55778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observation is exactly the kind of claim that needs testing before it goes into a business recommendation — next.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FORMULATION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an Observation Into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Testable Claim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5349240" cy="2286000"/>
          </a:xfrm>
          <a:prstGeom prst="rect">
            <a:avLst/>
          </a:prstGeom>
          <a:solidFill>
            <a:srgbClr val="232C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— NULL HYPOTHESIS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1752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significant difference in profit margin between the Furniture category and other product categories.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2331720"/>
            <a:ext cx="5349240" cy="2286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5603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— ALTERNATIVE HYPOTHESIS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3017520"/>
            <a:ext cx="4800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Furniture's profit margin is significantly lower than that of other product categories.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0972800" cy="1417320"/>
          </a:xfrm>
          <a:prstGeom prst="rect">
            <a:avLst/>
          </a:prstGeom>
          <a:solidFill>
            <a:srgbClr val="141B49"/>
          </a:solidFill>
          <a:ln w="12700">
            <a:solidFill>
              <a:srgbClr val="3A43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056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SELECTED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5394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Samples T-Test (Welch's correction) — comparing mean per-order profit margin (%) between Furniture orders and all other orders. Significance level α = 0.05.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Confirms It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1600200"/>
            <a:ext cx="5440680" cy="356616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8562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915400" y="185623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–11.03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92240" y="2423160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47802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47802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5.8 × 10⁻²⁸  (p &lt; 0.001)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6492240" y="3044952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0998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0998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–10.15 points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492240" y="3666744"/>
            <a:ext cx="480060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37216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37216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[–11.95, –8.34]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72200" y="4389120"/>
            <a:ext cx="5440680" cy="6858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46520" y="438912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Reject H₀ — the gap is statistically significant, not chance.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349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per-order average (weighting every order equally) is the correct basis for a t-test and differs slightly from the aggregate category margin on the previous slide (2.6% vs 17%) — both point to the same conclusion.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Furniture Is 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Furniture sub-category, with average discount rate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7680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828800"/>
            <a:ext cx="3200400" cy="4114800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64108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2423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Chairs and Furnishings are healthy, profitable product lines.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2461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and Bookcases are sold at 22–26% average discount and are net loss-making — they are dragging the whole category down.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641080" y="4892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discounting problem on two sub-categories, not a Furniture-wide problem.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Should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349240" cy="1965960"/>
          </a:xfrm>
          <a:prstGeom prst="rect">
            <a:avLst/>
          </a:prstGeom>
          <a:solidFill>
            <a:srgbClr val="232C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992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on Tables and Bookcases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sub-categories are net loss-making at 22–26% average discount. Cap at 15% and monitor margin recovery.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349240" cy="1965960"/>
          </a:xfrm>
          <a:prstGeom prst="rect">
            <a:avLst/>
          </a:prstGeom>
          <a:solidFill>
            <a:srgbClr val="232C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9992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Tables supplier cost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493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discount cap alone may not fix a –17.8K loss on Tables — the base cost likely needs review too.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5349240" cy="1965960"/>
          </a:xfrm>
          <a:prstGeom prst="rect">
            <a:avLst/>
          </a:prstGeom>
          <a:solidFill>
            <a:srgbClr val="232C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63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937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growth spend to Technology &amp; Office Supplies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87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carry proven 17%+ margins; growth dollars go further there than in Furniture.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4480560"/>
            <a:ext cx="5349240" cy="1965960"/>
          </a:xfrm>
          <a:prstGeom prst="rect">
            <a:avLst/>
          </a:prstGeom>
          <a:solidFill>
            <a:srgbClr val="232C6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4663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51937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this a quarterly check, not a one-off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56875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t-test each quarter so margin erosion is caught early, not after a full year.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658368"/>
            <a:ext cx="91440" cy="534924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1323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8A33D"/>
                </a:solidFill>
                <a:latin typeface="Calibri"/>
              </a:defRPr>
            </a:pPr>
            <a:r>
              <a:t>DATA STORYTELLING  •  TASK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828800"/>
            <a:ext cx="896112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FFFFFF"/>
                </a:solidFill>
                <a:latin typeface="Cambria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" y="3017520"/>
            <a:ext cx="10515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310128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ADCFC"/>
                </a:solidFill>
                <a:latin typeface="Calibri"/>
              </a:defRPr>
            </a:pPr>
            <a:r>
              <a:t>From raw data to statistically validated business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16636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CADCFC"/>
                </a:solidFill>
                <a:latin typeface="Calibri"/>
              </a:defRPr>
            </a:pPr>
            <a:r>
              <a:t>Aakrti  |  Data Analytics Internship  |  ApexPlanet Software Pvt.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576072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472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2026-09-12T07:33:56Z</dcterms:created>
  <dcterms:modified xsi:type="dcterms:W3CDTF">2026-09-12T07:33:56Z</dcterms:modified>
</cp:coreProperties>
</file>